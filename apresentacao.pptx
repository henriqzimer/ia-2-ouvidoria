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440c1ce-f9bc-7f62-056f-fdb5d19bb18b}">
          <p14:sldIdLst>
            <p14:sldId id="256"/>
          </p14:sldIdLst>
        </p14:section>
        <p14:section name="Retomada" id="{cb4b54e1-d724-a0a8-f808-9a0641019654}">
          <p14:sldIdLst>
            <p14:sldId id="257"/>
          </p14:sldIdLst>
        </p14:section>
        <p14:section name="Base e preparação" id="{f22a60f6-c785-55cc-42e9-1e116f27387b}">
          <p14:sldIdLst>
            <p14:sldId id="258"/>
          </p14:sldIdLst>
        </p14:section>
        <p14:section name="Solução implementada" id="{3206a28b-a29f-2555-3a3a-23eca270291c}">
          <p14:sldIdLst>
            <p14:sldId id="259"/>
          </p14:sldIdLst>
        </p14:section>
        <p14:section name="Técnicas utilizadas" id="{32b13588-4de4-eb77-e2b4-292321b67b51}">
          <p14:sldIdLst>
            <p14:sldId id="260"/>
          </p14:sldIdLst>
        </p14:section>
        <p14:section name="Demonstração" id="{5afd5599-4263-52bd-264b-7f6bf410079e}">
          <p14:sldIdLst>
            <p14:sldId id="261"/>
          </p14:sldIdLst>
        </p14:section>
        <p14:section name="Resultados" id="{54b0240a-9933-13ee-ac19-8f03a00c6768}">
          <p14:sldIdLst>
            <p14:sldId id="262"/>
            <p14:sldId id="263"/>
            <p14:sldId id="264"/>
          </p14:sldIdLst>
        </p14:section>
        <p14:section name="Limitações" id="{8dd95021-b22b-141c-3ba9-be7ec5442451}">
          <p14:sldIdLst>
            <p14:sldId id="265"/>
          </p14:sldIdLst>
        </p14:section>
        <p14:section name="Conclusões" id="{9ce57853-e43d-b2b6-f6d9-f164f75cbf97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0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04A"/>
                </a:solidFill>
                <a:latin typeface="+mn-lt"/>
              </a:rPr>
              <a:t>Manifestações por ano (milhões)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Manifestações (milhões)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  <c:pt idx="11">
                    <c:v>2026*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0.02</c:v>
                </c:pt>
                <c:pt idx="1">
                  <c:v>0.05</c:v>
                </c:pt>
                <c:pt idx="2">
                  <c:v>0.09</c:v>
                </c:pt>
                <c:pt idx="3">
                  <c:v>0.16</c:v>
                </c:pt>
                <c:pt idx="4">
                  <c:v>0.35</c:v>
                </c:pt>
                <c:pt idx="5">
                  <c:v>0.93</c:v>
                </c:pt>
                <c:pt idx="6">
                  <c:v>0.9</c:v>
                </c:pt>
                <c:pt idx="7">
                  <c:v>1.11</c:v>
                </c:pt>
                <c:pt idx="8">
                  <c:v>1.22</c:v>
                </c:pt>
                <c:pt idx="9">
                  <c:v>1.15</c:v>
                </c:pt>
                <c:pt idx="10">
                  <c:v>1.56</c:v>
                </c:pt>
                <c:pt idx="11">
                  <c:v>1.21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0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04A"/>
                </a:solidFill>
                <a:latin typeface="+mn-lt"/>
              </a:rPr>
              <a:t>Prioridade vs. regra de referência (90 casos)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A: sem RAG</c:v>
                </c:pt>
              </c:strCache>
            </c:strRef>
          </c:tx>
          <c:spPr>
            <a:solidFill>
              <a:srgbClr val="8A99A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Concordância (%)</c:v>
                  </c:pt>
                  <c:pt idx="1">
                    <c:v>F1 macro (%)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82.2</c:v>
                </c:pt>
                <c:pt idx="1">
                  <c:v>86.6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B: com RAG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Concordância (%)</c:v>
                  </c:pt>
                  <c:pt idx="1">
                    <c:v>F1 macro (%)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67.8</c:v>
                </c:pt>
                <c:pt idx="1">
                  <c:v>72.2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0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04A"/>
                </a:solidFill>
                <a:latin typeface="+mn-lt"/>
              </a:rPr>
              <a:t>Citações presentes no corpus indexado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Citações fundamentadas (%)</c:v>
                </c:pt>
              </c:strCache>
            </c:strRef>
          </c:tx>
          <c:spPr>
            <a:solidFill>
              <a:srgbClr val="8A99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9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8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A: sem RAG</c:v>
                  </c:pt>
                  <c:pt idx="1">
                    <c:v>B: com RAG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6.5</c:v>
                </c:pt>
                <c:pt idx="1">
                  <c:v>96.9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0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04A"/>
                </a:solidFill>
                <a:latin typeface="+mn-lt"/>
              </a:rPr>
              <a:t>Manifestações respondidas com atraso, 2025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com atraso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Prefeitura Municipal</c:v>
                  </c:pt>
                  <c:pt idx="1">
                    <c:v>Câmara Municipal</c:v>
                  </c:pt>
                  <c:pt idx="2">
                    <c:v>Prefeitura</c:v>
                  </c:pt>
                  <c:pt idx="3">
                    <c:v>Min. da Saúde</c:v>
                  </c:pt>
                  <c:pt idx="4">
                    <c:v>Min. Previdência</c:v>
                  </c:pt>
                  <c:pt idx="5">
                    <c:v>Min. Trabalho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16.5</c:v>
                </c:pt>
                <c:pt idx="1">
                  <c:v>14.4</c:v>
                </c:pt>
                <c:pt idx="2">
                  <c:v>11.2</c:v>
                </c:pt>
                <c:pt idx="3">
                  <c:v>0.6</c:v>
                </c:pt>
                <c:pt idx="4">
                  <c:v>0.1</c:v>
                </c:pt>
                <c:pt idx="5">
                  <c:v>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0:00-0:30. Apresentação do grupo e do tema. Cada integrante se apresenta em uma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0:30-1:30. Retomar o estudo de caso: ouvidorias públicas recebem milhões de manifestações e respondem em modelo copia e cola. Servidores sobrecarregados, gestores sem métricas confiáveis. Números vêm da base completa processada por nós.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1:30-3:00. 13 CSVs do Fala.BR (CGU), 2014 a 2026, lidos em blocos por causa do tamanho (2 GB). O total de 8.752.638 registros bate com o estudo de caso. Achado central: o CSV não tem o texto da manifestação, só metadados. Por isso o relato usado no experimento é sintético, gerado pelo modelo a partir de tipo, órgão e assunto. 2026 é ano parcial.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3:00-4:30. Ler o diagrama da esquerda para a direita. Preparo offline (tracejado roxo): os CSVs viram indicadores por órgão e as cinco leis são quebradas por artigo e indexadas com bge-m3, 326 trechos. A cada manifestação (verde): a consulta vai à busca semântica, que traz os 4 artigos mais próximos; junto com o histórico real do órgão eles chegam ao Qwen3-VL de 8 bilhões de parâmetros, rodando no Ollama dentro do Kubernetes. A saída em JSON vai para o servidor, que valida e decide. A linha cinza 'A: sem RAG' é o baseline: o modelo recebe só o relato. Tudo em infraestrutura própria, o que responde à preocupação com a LGPD. Versão interativa em saida/diagrama_pipeline.html.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4:30-6:00. Cada técnica resolve uma parte do ciclo: priorização estruturada vira dado para roteamento; RAG dá base normativa; geração condicionada produz o rascunho com regras no prompt; sumarização agregada revela gargalos para a gestão. Importante: a sumarização usa números calculados em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6:00-7:30. Caso 3 da amostra: denúncia sobre o sistema penitenciário. Mostrar entrada, saída A e saída B. A versão A cita uma lei com artigo que não está no corpus e não conseguimos verificar. A versão B não cita lei nenhuma e encaminha. Prompt completo está em 03_pipeline.py. Resumimos o relato para caber.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7:30-9:00. Avaliação em 90 casos contra o gabarito por regra (tipo + sensibilidade do assunto). A: 82,2% de concordância e F1 0,87. B: 67,8% e F1 0,72. Nenhum erro passou de um nível. O padrão do B: rebaixou 19 dos 37 casos de prioridade alta para média, contra 7 do A. Hipótese, não testada: o contexto normativo e o histórico de atraso deixam o modelo mais conservador. Ressalva: o gabarito é uma regra, não um julgamento humano.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9:00-10:30. Medimos quantas citações de lei e artigo existem no corpus indexado e estavam no contexto recuperado. A: 3 de 46 (6,5%). B: 31 de 32 (96,9%). A diferença é grande e é o principal ganho do RAG. Mas a métrica só vê leis e artigos: contatos e promessas de ação são inventados em ambas as versões (por exemplo telefones da ANEEL). Contagem por regex: promessas de ação já realizada em 7 minutas de A e 6 de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10:30-12:00. Indicadores calculados em código sobre os 8,75 milhões de registros, ano de 2025, órgãos com pelo menos 5 mil manifestações. Atraso concentrado em órgãos municipais; os ministérios ficam perto de zero. O resumo escrito pelo LLM trouxe erros de número: disse 70% de reclamações quando o dado dá cerca de 49%, e citou um tempo médio federal que não estava na tabela. Decisão de projeto: números vêm do código, o modelo só redige.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12:00-13:30. Ser direto sobre o que não conseguimos afirmar. O relato sintético é gerado pelo mesmo modelo que o interpreta. O gabarito é regra. Amostra de 90 casos em uma execução. E a infraestrutura teve um pod reiniciado por falta de memória (limite de 8 GiB), que ampliamos para 16 GiB.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13:30-15:00. Responder às três perguntas do enunciado: como se comporta (funciona de ponta a ponta, localmente), se atende (em parte: fundamenta bem, não melhorou a prioridade), aprendizados (validação humana segue obrigatória; números sempre calculados em código). Depois, melhorias futuras. Reservar tempo final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120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5120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Ouvidoria com IA Generativa  ·  Aplicação IA_Gen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Ouvidoria com IA Generativa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Priorização e minuta de resposta com RAG sobre o Fala.BR, usando Qwen3 local</a:t>
            </a:r>
            <a:endParaRPr lang="en-US" sz="1800" dirty="0"/>
          </a:p>
        </p:txBody>
      </p:sp>
      <p:sp>
        <p:nvSpPr>
          <p:cNvPr id="4" name="Circulo destaque"/>
          <p:cNvSpPr/>
          <p:nvPr/>
        </p:nvSpPr>
        <p:spPr>
          <a:xfrm>
            <a:off x="6309360" y="1005840"/>
            <a:ext cx="2377440" cy="2377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309360" y="1691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8,75 mi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manifestações reais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Aplicação IA_Gen  ·  Entrega 27/10/2026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 problema: respostas padronizadas</a:t>
            </a:r>
            <a:endParaRPr lang="en-US" sz="2800" dirty="0"/>
          </a:p>
        </p:txBody>
      </p:sp>
      <p:sp>
        <p:nvSpPr>
          <p:cNvPr id="4" name="Card estatistica 1"/>
          <p:cNvSpPr/>
          <p:nvPr/>
        </p:nvSpPr>
        <p:spPr>
          <a:xfrm>
            <a:off x="457200" y="1280160"/>
            <a:ext cx="256032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8,75 mi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48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manifestações registradas entre 2014 e 2026</a:t>
            </a:r>
            <a:endParaRPr lang="en-US" sz="1400" dirty="0"/>
          </a:p>
        </p:txBody>
      </p:sp>
      <p:sp>
        <p:nvSpPr>
          <p:cNvPr id="7" name="Card estatistica 2"/>
          <p:cNvSpPr/>
          <p:nvPr/>
        </p:nvSpPr>
        <p:spPr>
          <a:xfrm>
            <a:off x="3291840" y="1280160"/>
            <a:ext cx="256032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dias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2148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tempo médio de resolução na base completa</a:t>
            </a:r>
            <a:endParaRPr lang="en-US" sz="1400" dirty="0"/>
          </a:p>
        </p:txBody>
      </p:sp>
      <p:sp>
        <p:nvSpPr>
          <p:cNvPr id="10" name="Card estatistica 3"/>
          <p:cNvSpPr/>
          <p:nvPr/>
        </p:nvSpPr>
        <p:spPr>
          <a:xfrm>
            <a:off x="6126480" y="1280160"/>
            <a:ext cx="256032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1.777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148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órgãos e 309 assuntos diferentes</a:t>
            </a:r>
            <a:endParaRPr lang="en-US" sz="1400" dirty="0"/>
          </a:p>
        </p:txBody>
      </p:sp>
      <p:sp>
        <p:nvSpPr>
          <p:cNvPr id="13" name="Bloco objetivo"/>
          <p:cNvSpPr/>
          <p:nvPr/>
        </p:nvSpPr>
        <p:spPr>
          <a:xfrm>
            <a:off x="457200" y="3154680"/>
            <a:ext cx="822960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2644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Objetivo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566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Apoiar o servidor com prioridade e minuta de resposta fundamentadas na legislação, mantendo a decisão final com o humano.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4114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Registro real  →  busca semântica  →  minuta + prioridade  →  validação humana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Base: 8,75 milhões de manifestações reais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47548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4805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* 2026 parcial  ·  Fonte: Fala.BR/CGU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548640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Preparação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0" y="148132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Leitura em blocos (latin-1, “;”), 26 colunas normalizadas e agregação por ano, tipo, órgão e assunto.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Amostra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0" y="276148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90 casos concluídos de 2025 e 2026, estratificados por tipo de manifestação.</a:t>
            </a:r>
            <a:endParaRPr lang="en-US" sz="1400" dirty="0"/>
          </a:p>
        </p:txBody>
      </p:sp>
      <p:sp>
        <p:nvSpPr>
          <p:cNvPr id="10" name="Alerta texto ausente"/>
          <p:cNvSpPr/>
          <p:nvPr/>
        </p:nvSpPr>
        <p:spPr>
          <a:xfrm>
            <a:off x="5486400" y="3749040"/>
            <a:ext cx="32004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623560" y="3794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 CSV não traz o texto da manifestação: o relato é sintético.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Solução: do registro à validação humana</a:t>
            </a:r>
            <a:endParaRPr lang="en-US" sz="2800" dirty="0"/>
          </a:p>
        </p:txBody>
      </p:sp>
      <p:pic>
        <p:nvPicPr>
          <p:cNvPr id="4" name="Image 0" descr="Diagrama do pipeline: preparo offline dos CSVs e das normas, busca semântica, Qwen3-VL local, sugestão e validação huma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051560"/>
            <a:ext cx="6858000" cy="34564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Infraestrutura própria: Ollama no Kubernetes, RTX 3050 de 8 GB. Os textos não saem da instituição (LGPD).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Quatro técnicas, um ciclo completo</a:t>
            </a:r>
            <a:endParaRPr lang="en-US" sz="2800" dirty="0"/>
          </a:p>
        </p:txBody>
      </p:sp>
      <p:sp>
        <p:nvSpPr>
          <p:cNvPr id="4" name="Tecnica 1"/>
          <p:cNvSpPr/>
          <p:nvPr/>
        </p:nvSpPr>
        <p:spPr>
          <a:xfrm>
            <a:off x="457200" y="1234440"/>
            <a:ext cx="39776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ero tecnica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399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Priorização estruturada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80136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Saída em JSON com alta, média ou baixa e uma justificativa de uma frase.</a:t>
            </a:r>
            <a:endParaRPr lang="en-US" sz="1400" dirty="0"/>
          </a:p>
        </p:txBody>
      </p:sp>
      <p:sp>
        <p:nvSpPr>
          <p:cNvPr id="8" name="Tecnica 2"/>
          <p:cNvSpPr/>
          <p:nvPr/>
        </p:nvSpPr>
        <p:spPr>
          <a:xfrm>
            <a:off x="4709160" y="1234440"/>
            <a:ext cx="39776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ero tecnica 2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532120" y="1399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RAG com embeddings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532120" y="180136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Chunking por artigo, busca por similaridade e os 4 trechos mais próximos no contexto.</a:t>
            </a:r>
            <a:endParaRPr lang="en-US" sz="1400" dirty="0"/>
          </a:p>
        </p:txBody>
      </p:sp>
      <p:sp>
        <p:nvSpPr>
          <p:cNvPr id="12" name="Tecnica 3"/>
          <p:cNvSpPr/>
          <p:nvPr/>
        </p:nvSpPr>
        <p:spPr>
          <a:xfrm>
            <a:off x="457200" y="2926080"/>
            <a:ext cx="39776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ero tecnica 3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090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Geração condicionada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4930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Minuta em segunda pessoa, sem inventar prazos, citando só o contexto recuperado.</a:t>
            </a:r>
            <a:endParaRPr lang="en-US" sz="1400" dirty="0"/>
          </a:p>
        </p:txBody>
      </p:sp>
      <p:sp>
        <p:nvSpPr>
          <p:cNvPr id="16" name="Tecnica 4"/>
          <p:cNvSpPr/>
          <p:nvPr/>
        </p:nvSpPr>
        <p:spPr>
          <a:xfrm>
            <a:off x="4709160" y="2926080"/>
            <a:ext cx="39776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ero tecnica 4"/>
          <p:cNvSpPr/>
          <p:nvPr/>
        </p:nvSpPr>
        <p:spPr>
          <a:xfrm>
            <a:off x="4892040" y="3108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532120" y="3090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Sumarização agregada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532120" y="34930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Indicadores calculados em código na base inteira; o LLM apenas redige o resumo.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Demonstração: o mesmo caso, duas versões</a:t>
            </a:r>
            <a:endParaRPr lang="en-US" sz="2800" dirty="0"/>
          </a:p>
        </p:txBody>
      </p:sp>
      <p:sp>
        <p:nvSpPr>
          <p:cNvPr id="4" name="Coluna demo 1"/>
          <p:cNvSpPr/>
          <p:nvPr/>
        </p:nvSpPr>
        <p:spPr>
          <a:xfrm>
            <a:off x="457200" y="1188720"/>
            <a:ext cx="2468880" cy="26974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80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Entrada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Relato sintético: falta de comida, remédio e água em presídios. Tentamos denunciar, mas ninguém dá atenção.</a:t>
            </a:r>
            <a:endParaRPr lang="en-US" sz="1400" dirty="0"/>
          </a:p>
        </p:txBody>
      </p:sp>
      <p:sp>
        <p:nvSpPr>
          <p:cNvPr id="7" name="Coluna demo 2"/>
          <p:cNvSpPr/>
          <p:nvPr/>
        </p:nvSpPr>
        <p:spPr>
          <a:xfrm>
            <a:off x="3108960" y="1188720"/>
            <a:ext cx="274320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9184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A: sem RAG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16916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Prioridade: alta.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Cita “art. 30 da Lei 11.996/2009”, fora do corpus e sem verificação possível.</a:t>
            </a:r>
            <a:endParaRPr lang="en-US" sz="1400" dirty="0"/>
          </a:p>
        </p:txBody>
      </p:sp>
      <p:sp>
        <p:nvSpPr>
          <p:cNvPr id="10" name="Coluna demo 3"/>
          <p:cNvSpPr/>
          <p:nvPr/>
        </p:nvSpPr>
        <p:spPr>
          <a:xfrm>
            <a:off x="6035040" y="1188720"/>
            <a:ext cx="2651760" cy="26974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B: com RAG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6916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Prioridade: alta.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Não cita lei; encaminha à AGEPEN e aos órgãos apuratórios.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Caso 3  ·  Denúncia  ·  Sistema Penitenciário  ·  Entrada: tipo, órgão, assunto e relato. Saída: JSON com prioridade, justificativa e minuta.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Resultado 1: o RAG não ajudou a priorizar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47548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0" y="1188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5486400" y="20116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dos casos de prioridade alta foram rebaixados para média pela versão B (19 de 37). No baseline foram 19% (7 de 37).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0" y="32918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Nenhum erro passou de um nível. O gabarito é uma regra por tipo e assunto, não um julgamento humano.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Resultado 2: o RAG fundamenta as citações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42062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937760" y="11887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vs 32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4937760" y="1920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citações de lei e artigo em A e em B. Em B, 31 das 32 estão no contexto recuperado.</a:t>
            </a:r>
            <a:endParaRPr lang="en-US" sz="1400" dirty="0"/>
          </a:p>
        </p:txBody>
      </p:sp>
      <p:sp>
        <p:nvSpPr>
          <p:cNvPr id="7" name="Alerta alucinacao residual"/>
          <p:cNvSpPr/>
          <p:nvPr/>
        </p:nvSpPr>
        <p:spPr>
          <a:xfrm>
            <a:off x="4937760" y="2926080"/>
            <a:ext cx="3749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074920" y="301752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Alucinação residual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 ambas as versões surgiram telefones inventados e promessas de ação já realizada (7 minutas em A, 6 em B).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Resultado 3: sumarização da base inteira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47548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0" y="11887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Atraso se concentra em órgãos municipais; ministérios federais ficam perto de zero.</a:t>
            </a:r>
            <a:endParaRPr lang="en-US" sz="1400" dirty="0"/>
          </a:p>
        </p:txBody>
      </p:sp>
      <p:sp>
        <p:nvSpPr>
          <p:cNvPr id="6" name="Alerta resumo LLM"/>
          <p:cNvSpPr/>
          <p:nvPr/>
        </p:nvSpPr>
        <p:spPr>
          <a:xfrm>
            <a:off x="5486400" y="2514600"/>
            <a:ext cx="320040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623560" y="26060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 resumo do LLM errou números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Disse 70% de reclamações (o dado dá cerca de 49%). Por isso o código calcula e o modelo só redige.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Limitações e riscos observados</a:t>
            </a:r>
            <a:endParaRPr lang="en-US" sz="2800" dirty="0"/>
          </a:p>
        </p:txBody>
      </p:sp>
      <p:sp>
        <p:nvSpPr>
          <p:cNvPr id="4" name="Linha limitacao 1"/>
          <p:cNvSpPr/>
          <p:nvPr/>
        </p:nvSpPr>
        <p:spPr>
          <a:xfrm>
            <a:off x="457200" y="1188720"/>
            <a:ext cx="822960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ero limitacao 1"/>
          <p:cNvSpPr/>
          <p:nvPr/>
        </p:nvSpPr>
        <p:spPr>
          <a:xfrm>
            <a:off x="594360" y="129844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188720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Relato sintético.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mesmo modelo gera e interpreta o texto; a base real não traz relatos.</a:t>
            </a:r>
            <a:endParaRPr lang="en-US" sz="1400" dirty="0"/>
          </a:p>
        </p:txBody>
      </p:sp>
      <p:sp>
        <p:nvSpPr>
          <p:cNvPr id="7" name="Linha limitacao 2"/>
          <p:cNvSpPr/>
          <p:nvPr/>
        </p:nvSpPr>
        <p:spPr>
          <a:xfrm>
            <a:off x="457200" y="1865376"/>
            <a:ext cx="822960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ero limitacao 2"/>
          <p:cNvSpPr/>
          <p:nvPr/>
        </p:nvSpPr>
        <p:spPr>
          <a:xfrm>
            <a:off x="594360" y="19751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865376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Gabarito por regra.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prioridade mede alinhamento a tipo e assunto, não julgamento humano.</a:t>
            </a:r>
            <a:endParaRPr lang="en-US" sz="1400" dirty="0"/>
          </a:p>
        </p:txBody>
      </p:sp>
      <p:sp>
        <p:nvSpPr>
          <p:cNvPr id="10" name="Linha limitacao 3"/>
          <p:cNvSpPr/>
          <p:nvPr/>
        </p:nvSpPr>
        <p:spPr>
          <a:xfrm>
            <a:off x="457200" y="2542032"/>
            <a:ext cx="822960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umero limitacao 3"/>
          <p:cNvSpPr/>
          <p:nvPr/>
        </p:nvSpPr>
        <p:spPr>
          <a:xfrm>
            <a:off x="594360" y="26517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542032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Alucinação residual.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Telefones e promessas de ação inventados, mesmo com RAG.</a:t>
            </a:r>
            <a:endParaRPr lang="en-US" sz="1400" dirty="0"/>
          </a:p>
        </p:txBody>
      </p:sp>
      <p:sp>
        <p:nvSpPr>
          <p:cNvPr id="13" name="Linha limitacao 4"/>
          <p:cNvSpPr/>
          <p:nvPr/>
        </p:nvSpPr>
        <p:spPr>
          <a:xfrm>
            <a:off x="457200" y="3218688"/>
            <a:ext cx="822960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ero limitacao 4"/>
          <p:cNvSpPr/>
          <p:nvPr/>
        </p:nvSpPr>
        <p:spPr>
          <a:xfrm>
            <a:off x="594360" y="332841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218688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Amostra pequena.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90 casos, uma execução, sem intervalo de confiança.</a:t>
            </a:r>
            <a:endParaRPr lang="en-US" sz="1400" dirty="0"/>
          </a:p>
        </p:txBody>
      </p:sp>
      <p:sp>
        <p:nvSpPr>
          <p:cNvPr id="16" name="Linha limitacao 5"/>
          <p:cNvSpPr/>
          <p:nvPr/>
        </p:nvSpPr>
        <p:spPr>
          <a:xfrm>
            <a:off x="457200" y="3895344"/>
            <a:ext cx="822960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ero limitacao 5"/>
          <p:cNvSpPr/>
          <p:nvPr/>
        </p:nvSpPr>
        <p:spPr>
          <a:xfrm>
            <a:off x="594360" y="400507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895344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Infraestrutura.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Janela de 4 a 8 mil tokens (não os 32 mil nominais) e pod sem memória com 8 GiB, ampliado para 16.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Conclusões e melhorias futuras</a:t>
            </a:r>
            <a:endParaRPr lang="en-US" sz="2800" dirty="0"/>
          </a:p>
        </p:txBody>
      </p:sp>
      <p:sp>
        <p:nvSpPr>
          <p:cNvPr id="4" name="Coluna conclusoes"/>
          <p:cNvSpPr/>
          <p:nvPr/>
        </p:nvSpPr>
        <p:spPr>
          <a:xfrm>
            <a:off x="457200" y="118872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que concluímos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Funciona de ponta a ponta, em infraestrutura própria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Atende em parte: fundamenta citações (97%), mas não melhorou a prioridade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Validação humana segue obrigatória</a:t>
            </a:r>
            <a:endParaRPr lang="en-US" sz="1400" dirty="0"/>
          </a:p>
        </p:txBody>
      </p:sp>
      <p:sp>
        <p:nvSpPr>
          <p:cNvPr id="7" name="Coluna melhorias"/>
          <p:cNvSpPr/>
          <p:nvPr/>
        </p:nvSpPr>
        <p:spPr>
          <a:xfrm>
            <a:off x="4709160" y="118872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Melhorias futuras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Usar texto real: pedidos de acesso à informação e Brasil Participativo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Rótulos de prioridade feitos por servidores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Calibrar a prioridade com exemplos no prompt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Checar contatos e prazos da minuta automaticamente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3"/>
      </a:dk1>
      <a:lt1>
        <a:srgbClr val="FFFFFF"/>
      </a:lt1>
      <a:dk2>
        <a:srgbClr val="12304A"/>
      </a:dk2>
      <a:lt2>
        <a:srgbClr val="EEF3F6"/>
      </a:lt2>
      <a:accent1>
        <a:srgbClr val="1B7F8C"/>
      </a:accent1>
      <a:accent2>
        <a:srgbClr val="F2A900"/>
      </a:accent2>
      <a:accent3>
        <a:srgbClr val="C0392B"/>
      </a:accent3>
      <a:accent4>
        <a:srgbClr val="2E8B57"/>
      </a:accent4>
      <a:accent5>
        <a:srgbClr val="6B7C8F"/>
      </a:accent5>
      <a:accent6>
        <a:srgbClr val="5B8DB8"/>
      </a:accent6>
      <a:hlink>
        <a:srgbClr val="1B7F8C"/>
      </a:hlink>
      <a:folHlink>
        <a:srgbClr val="6B7C8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Ouvidoria com IA Generativa</dc:title>
  <dc:subject>PptxGenJS Presentation</dc:subject>
  <dc:creator>PptxGenJS</dc:creator>
  <cp:lastModifiedBy>PptxGenJS</cp:lastModifiedBy>
  <cp:revision>1</cp:revision>
  <dcterms:created xsi:type="dcterms:W3CDTF">2026-10-26T15:27:09Z</dcterms:created>
  <dcterms:modified xsi:type="dcterms:W3CDTF">2026-10-26T15:27:09Z</dcterms:modified>
</cp:coreProperties>
</file>